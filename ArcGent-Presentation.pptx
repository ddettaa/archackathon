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1371600"/>
            <a:ext cx="5486400" cy="5486400"/>
          </a:xfrm>
          <a:prstGeom prst="ellipse">
            <a:avLst/>
          </a:prstGeom>
          <a:solidFill>
            <a:srgbClr val="1B315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2743200"/>
            <a:ext cx="4572000" cy="4572000"/>
          </a:xfrm>
          <a:prstGeom prst="ellipse">
            <a:avLst/>
          </a:prstGeom>
          <a:solidFill>
            <a:srgbClr val="9F72F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FF4B31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63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4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ARCGENT</a:t>
            </a:r>
            <a:endParaRPr lang="en-US" sz="72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457200" cy="36576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26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2A43A"/>
                </a:solidFill>
                <a:latin typeface="Helvetica-Oblique" pitchFamily="34" charset="0"/>
                <a:ea typeface="Helvetica-Oblique" pitchFamily="34" charset="-122"/>
                <a:cs typeface="Helvetica-Oblique" pitchFamily="34" charset="-120"/>
              </a:rPr>
              <a:t>If This, Then Pay.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Autonomous signal-to-payment agents on Arc Network + Circle Agent Stack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5029200"/>
            <a:ext cx="36576" cy="274320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5010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Arc Network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34640" y="5029200"/>
            <a:ext cx="36576" cy="274320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14" name="Text 12"/>
          <p:cNvSpPr/>
          <p:nvPr/>
        </p:nvSpPr>
        <p:spPr>
          <a:xfrm>
            <a:off x="2944368" y="5010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Circle Agent Stack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5029200"/>
            <a:ext cx="36576" cy="274320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16" name="Text 14"/>
          <p:cNvSpPr/>
          <p:nvPr/>
        </p:nvSpPr>
        <p:spPr>
          <a:xfrm>
            <a:off x="4956048" y="5010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USDC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0" y="5029200"/>
            <a:ext cx="36576" cy="274320"/>
          </a:xfrm>
          <a:prstGeom prst="rect">
            <a:avLst/>
          </a:prstGeom>
          <a:solidFill>
            <a:srgbClr val="9F72FF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5010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AI-Powered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Arc Agentic Economy Hackathon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 can think.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315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 can monitor.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4B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But agents can't pay.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840480"/>
            <a:ext cx="320040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3840480"/>
            <a:ext cx="3200400" cy="54864"/>
          </a:xfrm>
          <a:prstGeom prst="rect">
            <a:avLst/>
          </a:prstGeom>
          <a:solidFill>
            <a:srgbClr val="1B3158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4114800"/>
            <a:ext cx="594360" cy="594360"/>
          </a:xfrm>
          <a:prstGeom prst="ellipse">
            <a:avLst/>
          </a:prstGeom>
          <a:solidFill>
            <a:srgbClr val="1B3158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4114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51560" y="4892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Wallet Access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5303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AI agents detect events but can't settle them. They lack autonomous payment execution.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3840480"/>
            <a:ext cx="320040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3840480"/>
            <a:ext cx="3200400" cy="54864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14" name="Shape 12"/>
          <p:cNvSpPr/>
          <p:nvPr/>
        </p:nvSpPr>
        <p:spPr>
          <a:xfrm>
            <a:off x="4617720" y="4114800"/>
            <a:ext cx="594360" cy="594360"/>
          </a:xfrm>
          <a:prstGeom prst="ellipse">
            <a:avLst/>
          </a:prstGeom>
          <a:solidFill>
            <a:srgbClr val="FF4B31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4114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17720" y="4892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Human Bottleneck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17720" y="5303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Every payment needs manual approval. This defeats the entire purpose of automation.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63840" y="3840480"/>
            <a:ext cx="320040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863840" y="3840480"/>
            <a:ext cx="3200400" cy="54864"/>
          </a:xfrm>
          <a:prstGeom prst="rect">
            <a:avLst/>
          </a:prstGeom>
          <a:solidFill>
            <a:srgbClr val="9F72FF"/>
          </a:solidFill>
          <a:ln/>
        </p:spPr>
      </p:sp>
      <p:sp>
        <p:nvSpPr>
          <p:cNvPr id="20" name="Shape 18"/>
          <p:cNvSpPr/>
          <p:nvPr/>
        </p:nvSpPr>
        <p:spPr>
          <a:xfrm>
            <a:off x="8183880" y="4114800"/>
            <a:ext cx="594360" cy="594360"/>
          </a:xfrm>
          <a:prstGeom prst="ellipse">
            <a:avLst/>
          </a:prstGeom>
          <a:solidFill>
            <a:srgbClr val="9F72FF"/>
          </a:solidFill>
          <a:ln/>
        </p:spPr>
      </p:sp>
      <p:sp>
        <p:nvSpPr>
          <p:cNvPr id="21" name="Text 19"/>
          <p:cNvSpPr/>
          <p:nvPr/>
        </p:nvSpPr>
        <p:spPr>
          <a:xfrm>
            <a:off x="8183880" y="4114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183880" y="4892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Trust Layer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83880" y="5303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No reputation system, no risk management, no audit trail for autonomous payments.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Signal in. USDC out.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Autonomous agents that listen to real-world signals, evaluate with AI, and pay with USDC on Arc Network.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474720"/>
            <a:ext cx="2468880" cy="2560320"/>
          </a:xfrm>
          <a:prstGeom prst="rect">
            <a:avLst/>
          </a:prstGeom>
          <a:solidFill>
            <a:srgbClr val="060F1F"/>
          </a:solidFill>
          <a:ln w="19050">
            <a:solidFill>
              <a:srgbClr val="ACC6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474720"/>
            <a:ext cx="2468880" cy="45720"/>
          </a:xfrm>
          <a:prstGeom prst="rect">
            <a:avLst/>
          </a:prstGeom>
          <a:solidFill>
            <a:srgbClr val="ACC6E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SIGNAL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1605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GitHub, API,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Webhook, Oracle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280160" y="5029200"/>
            <a:ext cx="1371600" cy="36576"/>
          </a:xfrm>
          <a:prstGeom prst="rect">
            <a:avLst/>
          </a:prstGeom>
          <a:solidFill>
            <a:srgbClr val="ACC6E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166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Real-world events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4617720"/>
            <a:ext cx="320040" cy="36576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13" name="Shape 11"/>
          <p:cNvSpPr/>
          <p:nvPr/>
        </p:nvSpPr>
        <p:spPr>
          <a:xfrm>
            <a:off x="3474720" y="4544568"/>
            <a:ext cx="146304" cy="146304"/>
          </a:xfrm>
          <a:prstGeom prst="ellipse">
            <a:avLst/>
          </a:prstGeom>
          <a:solidFill>
            <a:srgbClr val="5ACDA7"/>
          </a:solidFill>
          <a:ln/>
        </p:spPr>
      </p:sp>
      <p:sp>
        <p:nvSpPr>
          <p:cNvPr id="14" name="Shape 12"/>
          <p:cNvSpPr/>
          <p:nvPr/>
        </p:nvSpPr>
        <p:spPr>
          <a:xfrm>
            <a:off x="3520440" y="3474720"/>
            <a:ext cx="2468880" cy="2560320"/>
          </a:xfrm>
          <a:prstGeom prst="rect">
            <a:avLst/>
          </a:prstGeom>
          <a:solidFill>
            <a:srgbClr val="060F1F"/>
          </a:solidFill>
          <a:ln w="19050">
            <a:solidFill>
              <a:srgbClr val="FF4B3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0440" y="3474720"/>
            <a:ext cx="2468880" cy="45720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4B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REASONING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20440" y="41605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LLM evaluates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context + intent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69080" y="5029200"/>
            <a:ext cx="1371600" cy="36576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5166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Not static rules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0" y="4617720"/>
            <a:ext cx="320040" cy="36576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21" name="Shape 19"/>
          <p:cNvSpPr/>
          <p:nvPr/>
        </p:nvSpPr>
        <p:spPr>
          <a:xfrm>
            <a:off x="6263640" y="4544568"/>
            <a:ext cx="146304" cy="146304"/>
          </a:xfrm>
          <a:prstGeom prst="ellipse">
            <a:avLst/>
          </a:prstGeom>
          <a:solidFill>
            <a:srgbClr val="5ACDA7"/>
          </a:solidFill>
          <a:ln/>
        </p:spPr>
      </p:sp>
      <p:sp>
        <p:nvSpPr>
          <p:cNvPr id="22" name="Shape 20"/>
          <p:cNvSpPr/>
          <p:nvPr/>
        </p:nvSpPr>
        <p:spPr>
          <a:xfrm>
            <a:off x="6309360" y="3474720"/>
            <a:ext cx="2468880" cy="2560320"/>
          </a:xfrm>
          <a:prstGeom prst="rect">
            <a:avLst/>
          </a:prstGeom>
          <a:solidFill>
            <a:srgbClr val="060F1F"/>
          </a:solidFill>
          <a:ln w="19050">
            <a:solidFill>
              <a:srgbClr val="F2A4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09360" y="3474720"/>
            <a:ext cx="2468880" cy="45720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2A4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DECIDE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41605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Auto / Review /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Reject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858000" y="5029200"/>
            <a:ext cx="1371600" cy="36576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5166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Confidence tiers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778240" y="4617720"/>
            <a:ext cx="320040" cy="36576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29" name="Shape 27"/>
          <p:cNvSpPr/>
          <p:nvPr/>
        </p:nvSpPr>
        <p:spPr>
          <a:xfrm>
            <a:off x="9052560" y="4544568"/>
            <a:ext cx="146304" cy="146304"/>
          </a:xfrm>
          <a:prstGeom prst="ellipse">
            <a:avLst/>
          </a:prstGeom>
          <a:solidFill>
            <a:srgbClr val="5ACDA7"/>
          </a:solidFill>
          <a:ln/>
        </p:spPr>
      </p:sp>
      <p:sp>
        <p:nvSpPr>
          <p:cNvPr id="30" name="Shape 28"/>
          <p:cNvSpPr/>
          <p:nvPr/>
        </p:nvSpPr>
        <p:spPr>
          <a:xfrm>
            <a:off x="9098280" y="3474720"/>
            <a:ext cx="2468880" cy="2560320"/>
          </a:xfrm>
          <a:prstGeom prst="rect">
            <a:avLst/>
          </a:prstGeom>
          <a:solidFill>
            <a:srgbClr val="060F1F"/>
          </a:solidFill>
          <a:ln w="19050">
            <a:solidFill>
              <a:srgbClr val="5ACDA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98280" y="3474720"/>
            <a:ext cx="2468880" cy="45720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32" name="Text 30"/>
          <p:cNvSpPr/>
          <p:nvPr/>
        </p:nvSpPr>
        <p:spPr>
          <a:xfrm>
            <a:off x="909828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5ACDA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98280" y="41605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USDC transfer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on Arc Network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646920" y="5029200"/>
            <a:ext cx="1371600" cy="36576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35" name="Text 33"/>
          <p:cNvSpPr/>
          <p:nvPr/>
        </p:nvSpPr>
        <p:spPr>
          <a:xfrm>
            <a:off x="9098280" y="5166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Onchain proof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ArcGent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0698480" cy="868680"/>
          </a:xfrm>
          <a:prstGeom prst="rect">
            <a:avLst/>
          </a:prstGeom>
          <a:solidFill>
            <a:srgbClr val="1B3158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828800"/>
            <a:ext cx="10698480" cy="45720"/>
          </a:xfrm>
          <a:prstGeom prst="rect">
            <a:avLst/>
          </a:prstGeom>
          <a:solidFill>
            <a:srgbClr val="ACC6E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202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SIGNAL SOURCES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GitHub Merges   |   API Calls   |   Flight Delays   |   Weather Feeds   |   Oracle Events   |   Strava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52160" y="2697480"/>
            <a:ext cx="54864" cy="411480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9" name="Shape 7"/>
          <p:cNvSpPr/>
          <p:nvPr/>
        </p:nvSpPr>
        <p:spPr>
          <a:xfrm>
            <a:off x="5742432" y="3017520"/>
            <a:ext cx="274320" cy="274320"/>
          </a:xfrm>
          <a:prstGeom prst="ellipse">
            <a:avLst/>
          </a:prstGeom>
          <a:solidFill>
            <a:srgbClr val="6B7C93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3383280"/>
            <a:ext cx="10698480" cy="2194560"/>
          </a:xfrm>
          <a:prstGeom prst="rect">
            <a:avLst/>
          </a:prstGeom>
          <a:solidFill>
            <a:srgbClr val="0B1A33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3383280"/>
            <a:ext cx="10698480" cy="45720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F2A4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ARCGENT AGENT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7490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Bun + Hono  ·  TypeScript  ·  43 REST Endpoints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" y="4114800"/>
            <a:ext cx="1828800" cy="1188720"/>
          </a:xfrm>
          <a:prstGeom prst="rect">
            <a:avLst/>
          </a:prstGeom>
          <a:solidFill>
            <a:srgbClr val="060F1F"/>
          </a:solidFill>
          <a:ln w="19050">
            <a:solidFill>
              <a:srgbClr val="ACC6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2062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Signal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34640" y="4617720"/>
            <a:ext cx="182880" cy="36576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17" name="Shape 15"/>
          <p:cNvSpPr/>
          <p:nvPr/>
        </p:nvSpPr>
        <p:spPr>
          <a:xfrm>
            <a:off x="3017520" y="4114800"/>
            <a:ext cx="1828800" cy="1188720"/>
          </a:xfrm>
          <a:prstGeom prst="rect">
            <a:avLst/>
          </a:prstGeom>
          <a:solidFill>
            <a:srgbClr val="060F1F"/>
          </a:solidFill>
          <a:ln w="19050">
            <a:solidFill>
              <a:srgbClr val="FF4B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0" y="42062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B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Evaluator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B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(LLM)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4617720"/>
            <a:ext cx="182880" cy="36576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0" y="4114800"/>
            <a:ext cx="1828800" cy="1188720"/>
          </a:xfrm>
          <a:prstGeom prst="rect">
            <a:avLst/>
          </a:prstGeom>
          <a:solidFill>
            <a:srgbClr val="060F1F"/>
          </a:solidFill>
          <a:ln w="19050">
            <a:solidFill>
              <a:srgbClr val="F2A4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42062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2A4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 Engine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2A4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(IF/THEN)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4617720"/>
            <a:ext cx="182880" cy="36576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23" name="Shape 21"/>
          <p:cNvSpPr/>
          <p:nvPr/>
        </p:nvSpPr>
        <p:spPr>
          <a:xfrm>
            <a:off x="7040880" y="4114800"/>
            <a:ext cx="1828800" cy="1188720"/>
          </a:xfrm>
          <a:prstGeom prst="rect">
            <a:avLst/>
          </a:prstGeom>
          <a:solidFill>
            <a:srgbClr val="060F1F"/>
          </a:solidFill>
          <a:ln w="19050">
            <a:solidFill>
              <a:srgbClr val="5ACD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42062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ACDA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Circle Wallet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ACDA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(sendUSDC)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69680" y="4617720"/>
            <a:ext cx="182880" cy="36576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26" name="Shape 24"/>
          <p:cNvSpPr/>
          <p:nvPr/>
        </p:nvSpPr>
        <p:spPr>
          <a:xfrm>
            <a:off x="9052560" y="4114800"/>
            <a:ext cx="1828800" cy="1188720"/>
          </a:xfrm>
          <a:prstGeom prst="rect">
            <a:avLst/>
          </a:prstGeom>
          <a:solidFill>
            <a:srgbClr val="060F1F"/>
          </a:solidFill>
          <a:ln w="19050">
            <a:solidFill>
              <a:srgbClr val="9F72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52560" y="42062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9F72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Risk Manager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9F72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(Caps)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852160" y="5577840"/>
            <a:ext cx="54864" cy="411480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29" name="Shape 27"/>
          <p:cNvSpPr/>
          <p:nvPr/>
        </p:nvSpPr>
        <p:spPr>
          <a:xfrm>
            <a:off x="5742432" y="5897880"/>
            <a:ext cx="274320" cy="274320"/>
          </a:xfrm>
          <a:prstGeom prst="ellipse">
            <a:avLst/>
          </a:prstGeom>
          <a:solidFill>
            <a:srgbClr val="6B7C93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6263640"/>
            <a:ext cx="10698480" cy="548640"/>
          </a:xfrm>
          <a:prstGeom prst="rect">
            <a:avLst/>
          </a:prstGeom>
          <a:solidFill>
            <a:srgbClr val="2F578C"/>
          </a:solidFill>
          <a:ln/>
        </p:spPr>
      </p:sp>
      <p:sp>
        <p:nvSpPr>
          <p:cNvPr id="31" name="Shape 29"/>
          <p:cNvSpPr/>
          <p:nvPr/>
        </p:nvSpPr>
        <p:spPr>
          <a:xfrm>
            <a:off x="731520" y="6263640"/>
            <a:ext cx="10698480" cy="45720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62636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ARC NETWORK  —  USDC Transfers  |  ArcScan  |  Sub-second Finality  |  Chain ID: 5042002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ArcGent Delivers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30352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28800"/>
            <a:ext cx="5303520" cy="54864"/>
          </a:xfrm>
          <a:prstGeom prst="rect">
            <a:avLst/>
          </a:prstGeom>
          <a:solidFill>
            <a:srgbClr val="1B315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15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91640" y="2011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AI-Powered Auto-Pay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23774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LLM evaluates every signal. 80%+ AUTO, 60-80% REVIEW, &lt;60% REJECT. Real reasoning, not static IF/THEN.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530352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337560"/>
            <a:ext cx="5303520" cy="54864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74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4B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91640" y="3520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Signal Simulator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91640" y="38862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One click: webhook fires, AI evaluates, USDC pays onchain. Real TX on ArcScan in 5 seconds.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4846320"/>
            <a:ext cx="530352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4846320"/>
            <a:ext cx="5303520" cy="54864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CDA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029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Multi-Tenant Agents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91640" y="539496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Every user gets own agent via wallet signature. Per-user rules, payments, balances. Full isolation.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530352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828800"/>
            <a:ext cx="5303520" cy="54864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A4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69480" y="2011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Nanopayments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23774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Sub-cent USDC transfers (1-10,000 micro-USDC). Gas sponsorship via Paymaster. A2A micropayments.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9360" y="3337560"/>
            <a:ext cx="530352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3337560"/>
            <a:ext cx="5303520" cy="54864"/>
          </a:xfrm>
          <a:prstGeom prst="rect">
            <a:avLst/>
          </a:prstGeom>
          <a:solidFill>
            <a:srgbClr val="9F72FF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3474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F72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269480" y="3520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Reputation System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69480" y="38862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5-star reviews from real payment TX. Auto trust score (0-100). Marketplace with verified ratings.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4846320"/>
            <a:ext cx="530352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9360" y="4846320"/>
            <a:ext cx="5303520" cy="54864"/>
          </a:xfrm>
          <a:prstGeom prst="rect">
            <a:avLst/>
          </a:prstGeom>
          <a:solidFill>
            <a:srgbClr val="2F578C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57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269480" y="5029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3-Role Auth + Risk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269480" y="539496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Viewer / Operator / Admin. Wallet signature login. Kill switch. Daily caps, per-tx limits, per-rule caps.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657600"/>
            <a:ext cx="3657600" cy="3657600"/>
          </a:xfrm>
          <a:prstGeom prst="ellipse">
            <a:avLst/>
          </a:prstGeom>
          <a:solidFill>
            <a:srgbClr val="F2A43A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See It Live in 5 Seconds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914400" y="2103120"/>
            <a:ext cx="502920" cy="502920"/>
          </a:xfrm>
          <a:prstGeom prst="ellipse">
            <a:avLst/>
          </a:prstGeom>
          <a:solidFill>
            <a:srgbClr val="ACC6E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Click 'See It Live'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3957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User clicks button on landing page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143000" y="2606040"/>
            <a:ext cx="36576" cy="274320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2880360"/>
            <a:ext cx="502920" cy="502920"/>
          </a:xfrm>
          <a:prstGeom prst="ellipse">
            <a:avLst/>
          </a:prstGeom>
          <a:solidFill>
            <a:srgbClr val="1B315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Signal Fires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1729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Webhook: github/pr_merged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43000" y="3383280"/>
            <a:ext cx="36576" cy="274320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4B31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459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Evaluates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39502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LLM: 80% confidence — auto-approve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43000" y="4160520"/>
            <a:ext cx="36576" cy="274320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434840"/>
            <a:ext cx="502920" cy="502920"/>
          </a:xfrm>
          <a:prstGeom prst="ellipse">
            <a:avLst/>
          </a:prstGeom>
          <a:solidFill>
            <a:srgbClr val="5ACDA7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4592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USDC Paid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45920" y="47274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0.01 USDC sent on Arc Network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143000" y="4937760"/>
            <a:ext cx="36576" cy="274320"/>
          </a:xfrm>
          <a:prstGeom prst="rect">
            <a:avLst/>
          </a:prstGeom>
          <a:solidFill>
            <a:srgbClr val="6B7C93"/>
          </a:solidFill>
          <a:ln/>
        </p:spPr>
      </p:sp>
      <p:sp>
        <p:nvSpPr>
          <p:cNvPr id="26" name="Shape 24"/>
          <p:cNvSpPr/>
          <p:nvPr/>
        </p:nvSpPr>
        <p:spPr>
          <a:xfrm>
            <a:off x="914400" y="5212080"/>
            <a:ext cx="502920" cy="502920"/>
          </a:xfrm>
          <a:prstGeom prst="ellipse">
            <a:avLst/>
          </a:prstGeom>
          <a:solidFill>
            <a:srgbClr val="9F72FF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64592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Verified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5046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TX hash visible on ArcScan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675120" y="2103120"/>
            <a:ext cx="4754880" cy="3657600"/>
          </a:xfrm>
          <a:prstGeom prst="rect">
            <a:avLst/>
          </a:prstGeom>
          <a:solidFill>
            <a:srgbClr val="060F1F"/>
          </a:solidFill>
          <a:ln w="19050">
            <a:solidFill>
              <a:srgbClr val="5ACD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5ACDA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TX PROOF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0" y="2743200"/>
            <a:ext cx="2560320" cy="27432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Signal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77824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webhook/pr_merged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949440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AI Confidence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778240" y="3429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80% — AUTO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494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Amount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778240" y="3840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0.01 USDC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94944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Recipient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778240" y="4251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0x350e...B16a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949440" y="4663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Block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77824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52743700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949440" y="5212080"/>
            <a:ext cx="4206240" cy="411480"/>
          </a:xfrm>
          <a:prstGeom prst="rect">
            <a:avLst/>
          </a:prstGeom>
          <a:solidFill>
            <a:srgbClr val="0B1A33"/>
          </a:solidFill>
          <a:ln w="12700">
            <a:solidFill>
              <a:srgbClr val="5ACDA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0" y="52120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CD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0x11326129e6119b62dd...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949440" y="5760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CC6E9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View on ArcScan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Built on Arc + Circle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24688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0240"/>
            <a:ext cx="2468880" cy="54864"/>
          </a:xfrm>
          <a:prstGeom prst="rect">
            <a:avLst/>
          </a:prstGeom>
          <a:solidFill>
            <a:srgbClr val="1B315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Arc Network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Chain ID 5042002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920240"/>
            <a:ext cx="24688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920240"/>
            <a:ext cx="2468880" cy="54864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11" name="Text 9"/>
          <p:cNvSpPr/>
          <p:nvPr/>
        </p:nvSpPr>
        <p:spPr>
          <a:xfrm>
            <a:off x="370332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WALLET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703320" y="2560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Circle Agent Stack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0332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@circle-fin/app-kit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920240"/>
            <a:ext cx="24688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920240"/>
            <a:ext cx="2468880" cy="54864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 RUNTIME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46520" y="2560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Bun + Hono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4652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43 REST endpoints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61120" y="1920240"/>
            <a:ext cx="24688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0" y="1920240"/>
            <a:ext cx="2468880" cy="54864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21" name="Text 19"/>
          <p:cNvSpPr/>
          <p:nvPr/>
        </p:nvSpPr>
        <p:spPr>
          <a:xfrm>
            <a:off x="918972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/ LLM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189720" y="2560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9Router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8972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OpenAI-compatible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4251960"/>
            <a:ext cx="24688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4251960"/>
            <a:ext cx="2468880" cy="54864"/>
          </a:xfrm>
          <a:prstGeom prst="rect">
            <a:avLst/>
          </a:prstGeom>
          <a:solidFill>
            <a:srgbClr val="9F72FF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FRONTEND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0120" y="4892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Next.js 15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60120" y="5486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shadcn/ui, wagmi, viem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74720" y="4251960"/>
            <a:ext cx="24688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474720" y="4251960"/>
            <a:ext cx="2468880" cy="54864"/>
          </a:xfrm>
          <a:prstGeom prst="rect">
            <a:avLst/>
          </a:prstGeom>
          <a:solidFill>
            <a:srgbClr val="2F578C"/>
          </a:solidFill>
          <a:ln/>
        </p:spPr>
      </p:sp>
      <p:sp>
        <p:nvSpPr>
          <p:cNvPr id="31" name="Text 29"/>
          <p:cNvSpPr/>
          <p:nvPr/>
        </p:nvSpPr>
        <p:spPr>
          <a:xfrm>
            <a:off x="37033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703320" y="4892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Drizzle + SQLite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703320" y="5486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9 tables, DELETE journal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4251960"/>
            <a:ext cx="24688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17920" y="4251960"/>
            <a:ext cx="2468880" cy="54864"/>
          </a:xfrm>
          <a:prstGeom prst="rect">
            <a:avLst/>
          </a:prstGeom>
          <a:solidFill>
            <a:srgbClr val="ACC6E9"/>
          </a:solidFill>
          <a:ln/>
        </p:spPr>
      </p:sp>
      <p:sp>
        <p:nvSpPr>
          <p:cNvPr id="36" name="Text 34"/>
          <p:cNvSpPr/>
          <p:nvPr/>
        </p:nvSpPr>
        <p:spPr>
          <a:xfrm>
            <a:off x="64465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46520" y="4892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Keys + Sig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446520" y="5486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3 roles, 24h sessions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961120" y="4251960"/>
            <a:ext cx="246888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961120" y="4251960"/>
            <a:ext cx="2468880" cy="54864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41" name="Text 39"/>
          <p:cNvSpPr/>
          <p:nvPr/>
        </p:nvSpPr>
        <p:spPr>
          <a:xfrm>
            <a:off x="91897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PAYMENTS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189720" y="4892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USDC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9189720" y="5486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Standard + Nanopayments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914400"/>
            <a:ext cx="4572000" cy="4572000"/>
          </a:xfrm>
          <a:prstGeom prst="ellipse">
            <a:avLst/>
          </a:prstGeom>
          <a:solidFill>
            <a:srgbClr val="FF4B31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ArcGent in Production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3200400" cy="1828800"/>
          </a:xfrm>
          <a:prstGeom prst="rect">
            <a:avLst/>
          </a:prstGeom>
          <a:solidFill>
            <a:srgbClr val="060F1F"/>
          </a:solidFill>
          <a:ln w="19050">
            <a:solidFill>
              <a:srgbClr val="ACC6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774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1874520" y="3246120"/>
            <a:ext cx="914400" cy="27432"/>
          </a:xfrm>
          <a:prstGeom prst="rect">
            <a:avLst/>
          </a:prstGeom>
          <a:solidFill>
            <a:srgbClr val="ACC6E9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37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WEB PAGES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All 200 OK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194560"/>
            <a:ext cx="3200400" cy="1828800"/>
          </a:xfrm>
          <a:prstGeom prst="rect">
            <a:avLst/>
          </a:prstGeom>
          <a:solidFill>
            <a:srgbClr val="060F1F"/>
          </a:solidFill>
          <a:ln w="19050">
            <a:solidFill>
              <a:srgbClr val="FF4B3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3774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4B3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43</a:t>
            </a:r>
            <a:endParaRPr lang="en-US" sz="5200" dirty="0"/>
          </a:p>
        </p:txBody>
      </p:sp>
      <p:sp>
        <p:nvSpPr>
          <p:cNvPr id="13" name="Shape 11"/>
          <p:cNvSpPr/>
          <p:nvPr/>
        </p:nvSpPr>
        <p:spPr>
          <a:xfrm>
            <a:off x="5440680" y="3246120"/>
            <a:ext cx="914400" cy="27432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3337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ENDPOINTS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9768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REST + WebSocket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2194560"/>
            <a:ext cx="3200400" cy="1828800"/>
          </a:xfrm>
          <a:prstGeom prst="rect">
            <a:avLst/>
          </a:prstGeom>
          <a:solidFill>
            <a:srgbClr val="060F1F"/>
          </a:solidFill>
          <a:ln w="19050">
            <a:solidFill>
              <a:srgbClr val="5ACD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23774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ACDA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5200" dirty="0"/>
          </a:p>
        </p:txBody>
      </p:sp>
      <p:sp>
        <p:nvSpPr>
          <p:cNvPr id="18" name="Shape 16"/>
          <p:cNvSpPr/>
          <p:nvPr/>
        </p:nvSpPr>
        <p:spPr>
          <a:xfrm>
            <a:off x="9006840" y="3246120"/>
            <a:ext cx="914400" cy="27432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0" y="3337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 TABLES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Drizzle ORM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97680"/>
            <a:ext cx="3200400" cy="1828800"/>
          </a:xfrm>
          <a:prstGeom prst="rect">
            <a:avLst/>
          </a:prstGeom>
          <a:solidFill>
            <a:srgbClr val="060F1F"/>
          </a:solidFill>
          <a:ln w="19050">
            <a:solidFill>
              <a:srgbClr val="F2A4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4805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2A4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5200" dirty="0"/>
          </a:p>
        </p:txBody>
      </p:sp>
      <p:sp>
        <p:nvSpPr>
          <p:cNvPr id="23" name="Shape 21"/>
          <p:cNvSpPr/>
          <p:nvPr/>
        </p:nvSpPr>
        <p:spPr>
          <a:xfrm>
            <a:off x="1874520" y="5349240"/>
            <a:ext cx="914400" cy="27432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440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TX PROOFS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5760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On Arc Testnet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97680" y="4297680"/>
            <a:ext cx="3200400" cy="1828800"/>
          </a:xfrm>
          <a:prstGeom prst="rect">
            <a:avLst/>
          </a:prstGeom>
          <a:solidFill>
            <a:srgbClr val="060F1F"/>
          </a:solidFill>
          <a:ln w="19050">
            <a:solidFill>
              <a:srgbClr val="9F72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44805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9F72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100%</a:t>
            </a:r>
            <a:endParaRPr lang="en-US" sz="5200" dirty="0"/>
          </a:p>
        </p:txBody>
      </p:sp>
      <p:sp>
        <p:nvSpPr>
          <p:cNvPr id="28" name="Shape 26"/>
          <p:cNvSpPr/>
          <p:nvPr/>
        </p:nvSpPr>
        <p:spPr>
          <a:xfrm>
            <a:off x="5440680" y="5349240"/>
            <a:ext cx="914400" cy="27432"/>
          </a:xfrm>
          <a:prstGeom prst="rect">
            <a:avLst/>
          </a:prstGeom>
          <a:solidFill>
            <a:srgbClr val="9F72FF"/>
          </a:solidFill>
          <a:ln/>
        </p:spPr>
      </p:sp>
      <p:sp>
        <p:nvSpPr>
          <p:cNvPr id="29" name="Text 27"/>
          <p:cNvSpPr/>
          <p:nvPr/>
        </p:nvSpPr>
        <p:spPr>
          <a:xfrm>
            <a:off x="4297680" y="5440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MULTI-TENANT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297680" y="5760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Per-user isolation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863840" y="4297680"/>
            <a:ext cx="3200400" cy="1828800"/>
          </a:xfrm>
          <a:prstGeom prst="rect">
            <a:avLst/>
          </a:prstGeom>
          <a:solidFill>
            <a:srgbClr val="060F1F"/>
          </a:solidFill>
          <a:ln w="19050">
            <a:solidFill>
              <a:srgbClr val="ACC6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0" y="44805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&lt;5s</a:t>
            </a:r>
            <a:endParaRPr lang="en-US" sz="5200" dirty="0"/>
          </a:p>
        </p:txBody>
      </p:sp>
      <p:sp>
        <p:nvSpPr>
          <p:cNvPr id="33" name="Shape 31"/>
          <p:cNvSpPr/>
          <p:nvPr/>
        </p:nvSpPr>
        <p:spPr>
          <a:xfrm>
            <a:off x="9006840" y="5349240"/>
            <a:ext cx="914400" cy="27432"/>
          </a:xfrm>
          <a:prstGeom prst="rect">
            <a:avLst/>
          </a:prstGeom>
          <a:solidFill>
            <a:srgbClr val="ACC6E9"/>
          </a:solidFill>
          <a:ln/>
        </p:spPr>
      </p:sp>
      <p:sp>
        <p:nvSpPr>
          <p:cNvPr id="34" name="Text 32"/>
          <p:cNvSpPr/>
          <p:nvPr/>
        </p:nvSpPr>
        <p:spPr>
          <a:xfrm>
            <a:off x="7863840" y="5440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 FLOW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863840" y="5760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Signal to payment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7C9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 CASES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Can ArcGent Pay For?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20040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0240"/>
            <a:ext cx="3200400" cy="54864"/>
          </a:xfrm>
          <a:prstGeom prst="rect">
            <a:avLst/>
          </a:prstGeom>
          <a:solidFill>
            <a:srgbClr val="1B3158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48840"/>
            <a:ext cx="1280160" cy="292608"/>
          </a:xfrm>
          <a:prstGeom prst="rect">
            <a:avLst/>
          </a:prstGeom>
          <a:solidFill>
            <a:srgbClr val="1B315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488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Bug Bounty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0632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PR with 'fix:' label merged. AI evaluates severity: critical = 600 USDC, typo = 5 USDC.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20040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920240"/>
            <a:ext cx="3200400" cy="54864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12" name="Shape 10"/>
          <p:cNvSpPr/>
          <p:nvPr/>
        </p:nvSpPr>
        <p:spPr>
          <a:xfrm>
            <a:off x="4526280" y="2148840"/>
            <a:ext cx="1280160" cy="292608"/>
          </a:xfrm>
          <a:prstGeom prst="rect">
            <a:avLst/>
          </a:prstGeom>
          <a:solidFill>
            <a:srgbClr val="FF4B31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21488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FLIGHT API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2628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Refund AI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26280" y="30632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Flight delayed &gt; 2 hours? API ping triggers instant USDC refund to traveler.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1920240"/>
            <a:ext cx="320040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863840" y="1920240"/>
            <a:ext cx="3200400" cy="54864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092440" y="2148840"/>
            <a:ext cx="1280160" cy="292608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19" name="Text 17"/>
          <p:cNvSpPr/>
          <p:nvPr/>
        </p:nvSpPr>
        <p:spPr>
          <a:xfrm>
            <a:off x="8092440" y="21488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09244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 Stream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092440" y="30632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Content hits quality threshold? AI evaluates originality, word count. Auto-tips writer.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160520"/>
            <a:ext cx="320040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4160520"/>
            <a:ext cx="3200400" cy="54864"/>
          </a:xfrm>
          <a:prstGeom prst="rect">
            <a:avLst/>
          </a:prstGeom>
          <a:solidFill>
            <a:srgbClr val="9F72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60120" y="4389120"/>
            <a:ext cx="1280160" cy="292608"/>
          </a:xfrm>
          <a:prstGeom prst="rect">
            <a:avLst/>
          </a:prstGeom>
          <a:solidFill>
            <a:srgbClr val="9F72FF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4389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STRAVA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6012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Accountability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60120" y="5303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Missed gym all week? Strava data triggers penalty payment to accountability partner.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97680" y="4160520"/>
            <a:ext cx="320040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297680" y="4160520"/>
            <a:ext cx="3200400" cy="54864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30" name="Shape 28"/>
          <p:cNvSpPr/>
          <p:nvPr/>
        </p:nvSpPr>
        <p:spPr>
          <a:xfrm>
            <a:off x="4526280" y="4389120"/>
            <a:ext cx="1280160" cy="292608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31" name="Text 29"/>
          <p:cNvSpPr/>
          <p:nvPr/>
        </p:nvSpPr>
        <p:spPr>
          <a:xfrm>
            <a:off x="4526280" y="4389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ORACLE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Bounty Payouts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4526280" y="5303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Smart contract audit completed? Oracle confirms. USDC released to auditor.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863840" y="4160520"/>
            <a:ext cx="320040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863840" y="4160520"/>
            <a:ext cx="3200400" cy="54864"/>
          </a:xfrm>
          <a:prstGeom prst="rect">
            <a:avLst/>
          </a:prstGeom>
          <a:solidFill>
            <a:srgbClr val="2F578C"/>
          </a:solidFill>
          <a:ln/>
        </p:spPr>
      </p:sp>
      <p:sp>
        <p:nvSpPr>
          <p:cNvPr id="36" name="Shape 34"/>
          <p:cNvSpPr/>
          <p:nvPr/>
        </p:nvSpPr>
        <p:spPr>
          <a:xfrm>
            <a:off x="8092440" y="4389120"/>
            <a:ext cx="1280160" cy="292608"/>
          </a:xfrm>
          <a:prstGeom prst="rect">
            <a:avLst/>
          </a:prstGeom>
          <a:solidFill>
            <a:srgbClr val="2F578C"/>
          </a:solidFill>
          <a:ln/>
        </p:spPr>
      </p:sp>
      <p:sp>
        <p:nvSpPr>
          <p:cNvPr id="37" name="Text 35"/>
          <p:cNvSpPr/>
          <p:nvPr/>
        </p:nvSpPr>
        <p:spPr>
          <a:xfrm>
            <a:off x="8092440" y="4389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AGENT-TO-AGENT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09244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A2A Payments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092440" y="5303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C93"/>
                </a:solidFill>
                <a:latin typeface="Helvetica-Light" pitchFamily="34" charset="0"/>
                <a:ea typeface="Helvetica-Light" pitchFamily="34" charset="-122"/>
                <a:cs typeface="Helvetica-Light" pitchFamily="34" charset="-120"/>
              </a:rPr>
              <a:t>Agent hires another agent for translation service. Nanopayment per token.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ACDA7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1371600"/>
            <a:ext cx="5486400" cy="5486400"/>
          </a:xfrm>
          <a:prstGeom prst="ellipse">
            <a:avLst/>
          </a:prstGeom>
          <a:solidFill>
            <a:srgbClr val="1B3158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0" y="3657600"/>
            <a:ext cx="3657600" cy="3657600"/>
          </a:xfrm>
          <a:prstGeom prst="ellipse">
            <a:avLst/>
          </a:prstGeom>
          <a:solidFill>
            <a:srgbClr val="9F72FF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signal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ACC6E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 a price.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2743200" cy="45720"/>
          </a:xfrm>
          <a:prstGeom prst="rect">
            <a:avLst/>
          </a:prstGeom>
          <a:solidFill>
            <a:srgbClr val="F2A43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7490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A4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payment is autonomous.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22960" y="4480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ACDA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transaction is onchain.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822960" y="5669280"/>
            <a:ext cx="3657600" cy="36576"/>
          </a:xfrm>
          <a:prstGeom prst="rect">
            <a:avLst/>
          </a:prstGeom>
          <a:solidFill>
            <a:srgbClr val="ACC6E9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CC6E9"/>
                </a:solidFill>
                <a:latin typeface="Helvetica-Oblique" pitchFamily="34" charset="0"/>
                <a:ea typeface="Helvetica-Oblique" pitchFamily="34" charset="-122"/>
                <a:cs typeface="Helvetica-Oblique" pitchFamily="34" charset="-120"/>
              </a:rPr>
              <a:t>ArcGent — If This, Then Pay.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github.com/ddettaa/ArcGent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ArcGent — If This, Then Pay</dc:title>
  <dc:subject>PptxGenJS Presentation</dc:subject>
  <dc:creator>Adit</dc:creator>
  <cp:lastModifiedBy>Adit</cp:lastModifiedBy>
  <cp:revision>1</cp:revision>
  <dcterms:created xsi:type="dcterms:W3CDTF">2026-07-21T22:47:09Z</dcterms:created>
  <dcterms:modified xsi:type="dcterms:W3CDTF">2026-07-21T22:47:09Z</dcterms:modified>
</cp:coreProperties>
</file>